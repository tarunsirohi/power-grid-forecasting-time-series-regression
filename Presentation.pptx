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73" r:id="rId5"/>
    <p:sldId id="258" r:id="rId6"/>
    <p:sldId id="259" r:id="rId7"/>
    <p:sldId id="261" r:id="rId8"/>
    <p:sldId id="262" r:id="rId9"/>
    <p:sldId id="263" r:id="rId10"/>
    <p:sldId id="264" r:id="rId11"/>
    <p:sldId id="265" r:id="rId12"/>
    <p:sldId id="266" r:id="rId13"/>
    <p:sldId id="267" r:id="rId14"/>
    <p:sldId id="271" r:id="rId15"/>
    <p:sldId id="272" r:id="rId16"/>
    <p:sldId id="268" r:id="rId17"/>
    <p:sldId id="269" r:id="rId18"/>
    <p:sldId id="270"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524000" y="1122680"/>
            <a:ext cx="9144000" cy="2306955"/>
          </a:xfrm>
        </p:spPr>
        <p:txBody>
          <a:bodyPr>
            <a:normAutofit/>
          </a:bodyPr>
          <a:p>
            <a:r>
              <a:rPr lang="en-US" sz="2500" b="1">
                <a:latin typeface="Times New Roman" panose="02020603050405020304" charset="0"/>
                <a:cs typeface="Times New Roman" panose="02020603050405020304" charset="0"/>
              </a:rPr>
              <a:t>Hackathon Presentation</a:t>
            </a:r>
            <a:br>
              <a:rPr lang="en-US" sz="2500" b="1">
                <a:latin typeface="Times New Roman" panose="02020603050405020304" charset="0"/>
                <a:cs typeface="Times New Roman" panose="02020603050405020304" charset="0"/>
              </a:rPr>
            </a:br>
            <a:br>
              <a:rPr lang="en-US" sz="2500" b="1">
                <a:latin typeface="Times New Roman" panose="02020603050405020304" charset="0"/>
                <a:cs typeface="Times New Roman" panose="02020603050405020304" charset="0"/>
              </a:rPr>
            </a:br>
            <a:r>
              <a:rPr lang="en-US" altLang="en-US" sz="2500" b="1">
                <a:solidFill>
                  <a:schemeClr val="accent1">
                    <a:lumMod val="50000"/>
                  </a:schemeClr>
                </a:solidFill>
                <a:latin typeface="Times New Roman" panose="02020603050405020304" charset="0"/>
                <a:cs typeface="Times New Roman" panose="02020603050405020304" charset="0"/>
              </a:rPr>
              <a:t>POWER GRID FORECASTING (Time Series Regression)</a:t>
            </a:r>
            <a:endParaRPr lang="en-US" altLang="en-US" sz="2500" b="1">
              <a:solidFill>
                <a:schemeClr val="accent1">
                  <a:lumMod val="50000"/>
                </a:schemeClr>
              </a:solidFill>
              <a:latin typeface="Times New Roman" panose="02020603050405020304" charset="0"/>
              <a:cs typeface="Times New Roman" panose="02020603050405020304" charset="0"/>
            </a:endParaRPr>
          </a:p>
        </p:txBody>
      </p:sp>
      <p:sp>
        <p:nvSpPr>
          <p:cNvPr id="3" name="Subtitle 2"/>
          <p:cNvSpPr>
            <a:spLocks noGrp="1"/>
          </p:cNvSpPr>
          <p:nvPr>
            <p:ph type="subTitle" idx="1"/>
          </p:nvPr>
        </p:nvSpPr>
        <p:spPr>
          <a:xfrm>
            <a:off x="1524000" y="3778250"/>
            <a:ext cx="9144000" cy="2749550"/>
          </a:xfrm>
        </p:spPr>
        <p:txBody>
          <a:bodyPr>
            <a:normAutofit lnSpcReduction="20000"/>
          </a:bodyPr>
          <a:p>
            <a:r>
              <a:rPr lang="en-US" sz="1700" b="1">
                <a:latin typeface="Times New Roman" panose="02020603050405020304" charset="0"/>
                <a:cs typeface="Times New Roman" panose="02020603050405020304" charset="0"/>
              </a:rPr>
              <a:t>Submitted By:</a:t>
            </a:r>
            <a:endParaRPr lang="en-US" sz="1700" b="1">
              <a:latin typeface="Times New Roman" panose="02020603050405020304" charset="0"/>
              <a:cs typeface="Times New Roman" panose="02020603050405020304" charset="0"/>
            </a:endParaRPr>
          </a:p>
          <a:p>
            <a:r>
              <a:rPr lang="en-US" sz="1700" b="1">
                <a:latin typeface="Times New Roman" panose="02020603050405020304" charset="0"/>
                <a:cs typeface="Times New Roman" panose="02020603050405020304" charset="0"/>
              </a:rPr>
              <a:t>Tarun Sirohi </a:t>
            </a:r>
            <a:endParaRPr lang="en-US" sz="1700" b="1">
              <a:latin typeface="Times New Roman" panose="02020603050405020304" charset="0"/>
              <a:cs typeface="Times New Roman" panose="02020603050405020304" charset="0"/>
            </a:endParaRPr>
          </a:p>
          <a:p>
            <a:r>
              <a:rPr lang="en-US" sz="1700" b="1">
                <a:latin typeface="Times New Roman" panose="02020603050405020304" charset="0"/>
                <a:cs typeface="Times New Roman" panose="02020603050405020304" charset="0"/>
              </a:rPr>
              <a:t>(intern25@omniesolutions.com)</a:t>
            </a:r>
            <a:endParaRPr lang="en-US" sz="1700" b="1">
              <a:latin typeface="Times New Roman" panose="02020603050405020304" charset="0"/>
              <a:cs typeface="Times New Roman" panose="02020603050405020304" charset="0"/>
            </a:endParaRPr>
          </a:p>
          <a:p>
            <a:endParaRPr lang="en-US" sz="1700" b="1">
              <a:latin typeface="Times New Roman" panose="02020603050405020304" charset="0"/>
              <a:cs typeface="Times New Roman" panose="02020603050405020304" charset="0"/>
            </a:endParaRPr>
          </a:p>
          <a:p>
            <a:r>
              <a:rPr lang="en-US" sz="1700" b="1">
                <a:latin typeface="Times New Roman" panose="02020603050405020304" charset="0"/>
                <a:cs typeface="Times New Roman" panose="02020603050405020304" charset="0"/>
              </a:rPr>
              <a:t>Under the supervision of:</a:t>
            </a:r>
            <a:endParaRPr lang="en-US" sz="1700" b="1">
              <a:latin typeface="Times New Roman" panose="02020603050405020304" charset="0"/>
              <a:cs typeface="Times New Roman" panose="02020603050405020304" charset="0"/>
            </a:endParaRPr>
          </a:p>
          <a:p>
            <a:r>
              <a:rPr lang="en-US" sz="1700" b="1">
                <a:latin typeface="Times New Roman" panose="02020603050405020304" charset="0"/>
                <a:cs typeface="Times New Roman" panose="02020603050405020304" charset="0"/>
              </a:rPr>
              <a:t>Anand Shukla</a:t>
            </a:r>
            <a:endParaRPr lang="en-US" sz="1700" b="1">
              <a:latin typeface="Times New Roman" panose="02020603050405020304" charset="0"/>
              <a:cs typeface="Times New Roman" panose="02020603050405020304" charset="0"/>
            </a:endParaRPr>
          </a:p>
          <a:p>
            <a:r>
              <a:rPr lang="en-US" sz="1700" b="1">
                <a:latin typeface="Times New Roman" panose="02020603050405020304" charset="0"/>
                <a:cs typeface="Times New Roman" panose="02020603050405020304" charset="0"/>
              </a:rPr>
              <a:t>Chhatra Pratap Bharti</a:t>
            </a:r>
            <a:endParaRPr lang="en-US" sz="1700" b="1">
              <a:latin typeface="Times New Roman" panose="02020603050405020304" charset="0"/>
              <a:cs typeface="Times New Roman" panose="02020603050405020304" charset="0"/>
            </a:endParaRPr>
          </a:p>
        </p:txBody>
      </p:sp>
      <p:pic>
        <p:nvPicPr>
          <p:cNvPr id="4" name="Picture 3" descr="omnie_solutions_i_pvt__ltd__noida_logo"/>
          <p:cNvPicPr>
            <a:picLocks noChangeAspect="1"/>
          </p:cNvPicPr>
          <p:nvPr/>
        </p:nvPicPr>
        <p:blipFill>
          <a:blip r:embed="rId1"/>
          <a:srcRect t="15086" b="21079"/>
          <a:stretch>
            <a:fillRect/>
          </a:stretch>
        </p:blipFill>
        <p:spPr>
          <a:xfrm>
            <a:off x="4474210" y="404495"/>
            <a:ext cx="3200400" cy="15557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latin typeface="Times New Roman" panose="02020603050405020304" charset="0"/>
                <a:cs typeface="Times New Roman" panose="02020603050405020304" charset="0"/>
              </a:rPr>
              <a:t>Table of Content</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normAutofit fontScale="80000"/>
          </a:bodyPr>
          <a:p>
            <a:pPr marL="457200" indent="-457200">
              <a:buAutoNum type="arabicPeriod"/>
            </a:pPr>
            <a:r>
              <a:rPr lang="en-US" altLang="en-US" sz="2500" b="1">
                <a:latin typeface="Times New Roman" panose="02020603050405020304" charset="0"/>
                <a:cs typeface="Times New Roman" panose="02020603050405020304" charset="0"/>
              </a:rPr>
              <a:t>Introduction &amp; Objective : </a:t>
            </a:r>
            <a:r>
              <a:rPr lang="en-US" altLang="en-US" sz="2500">
                <a:latin typeface="Times New Roman" panose="02020603050405020304" charset="0"/>
                <a:cs typeface="Times New Roman" panose="02020603050405020304" charset="0"/>
              </a:rPr>
              <a:t>Sets the stage by defining the project's goal, the dataset used, and the core problem being solved.</a:t>
            </a:r>
            <a:endParaRPr lang="en-US" altLang="en-US" sz="2500">
              <a:latin typeface="Times New Roman" panose="02020603050405020304" charset="0"/>
              <a:cs typeface="Times New Roman" panose="02020603050405020304" charset="0"/>
            </a:endParaRPr>
          </a:p>
          <a:p>
            <a:pPr marL="457200" indent="-457200">
              <a:buAutoNum type="arabicPeriod"/>
            </a:pPr>
            <a:r>
              <a:rPr lang="en-US" altLang="en-US" sz="2500" b="1">
                <a:latin typeface="Times New Roman" panose="02020603050405020304" charset="0"/>
                <a:cs typeface="Times New Roman" panose="02020603050405020304" charset="0"/>
              </a:rPr>
              <a:t>Data Understanding &amp; Cleaning : </a:t>
            </a:r>
            <a:r>
              <a:rPr lang="en-US" altLang="en-US" sz="2500">
                <a:latin typeface="Times New Roman" panose="02020603050405020304" charset="0"/>
                <a:cs typeface="Times New Roman" panose="02020603050405020304" charset="0"/>
              </a:rPr>
              <a:t>Details the initial data exploration, outlier removal, and the strategy for handling missing values.</a:t>
            </a:r>
            <a:endParaRPr lang="en-US" altLang="en-US" sz="2500">
              <a:latin typeface="Times New Roman" panose="02020603050405020304" charset="0"/>
              <a:cs typeface="Times New Roman" panose="02020603050405020304" charset="0"/>
            </a:endParaRPr>
          </a:p>
          <a:p>
            <a:pPr marL="457200" indent="-457200">
              <a:buAutoNum type="arabicPeriod"/>
            </a:pPr>
            <a:r>
              <a:rPr lang="en-US" altLang="en-US" sz="2500" b="1">
                <a:latin typeface="Times New Roman" panose="02020603050405020304" charset="0"/>
                <a:cs typeface="Times New Roman" panose="02020603050405020304" charset="0"/>
              </a:rPr>
              <a:t>Approach / Methodology : </a:t>
            </a:r>
            <a:r>
              <a:rPr lang="en-US" altLang="en-US" sz="2500">
                <a:latin typeface="Times New Roman" panose="02020603050405020304" charset="0"/>
                <a:cs typeface="Times New Roman" panose="02020603050405020304" charset="0"/>
              </a:rPr>
              <a:t>Explains the project's workflow, the choice of the XGBoost model, the train-test split strategy, and the critical time-weighted tuning technique.</a:t>
            </a:r>
            <a:endParaRPr lang="en-US" altLang="en-US" sz="2500">
              <a:latin typeface="Times New Roman" panose="02020603050405020304" charset="0"/>
              <a:cs typeface="Times New Roman" panose="02020603050405020304" charset="0"/>
            </a:endParaRPr>
          </a:p>
          <a:p>
            <a:pPr marL="457200" indent="-457200">
              <a:buAutoNum type="arabicPeriod"/>
            </a:pPr>
            <a:r>
              <a:rPr lang="en-US" altLang="en-US" sz="2500" b="1">
                <a:latin typeface="Times New Roman" panose="02020603050405020304" charset="0"/>
                <a:cs typeface="Times New Roman" panose="02020603050405020304" charset="0"/>
              </a:rPr>
              <a:t>Results &amp; Insights : </a:t>
            </a:r>
            <a:r>
              <a:rPr lang="en-US" altLang="en-US" sz="2500">
                <a:latin typeface="Times New Roman" panose="02020603050405020304" charset="0"/>
                <a:cs typeface="Times New Roman" panose="02020603050405020304" charset="0"/>
              </a:rPr>
              <a:t>Presents the final model performance metrics (MAE and RMSE), showcasing the drastic improvement over the baseline, and highlights key findings from visualizations.</a:t>
            </a:r>
            <a:endParaRPr lang="en-US" altLang="en-US" sz="2500">
              <a:latin typeface="Times New Roman" panose="02020603050405020304" charset="0"/>
              <a:cs typeface="Times New Roman" panose="02020603050405020304" charset="0"/>
            </a:endParaRPr>
          </a:p>
          <a:p>
            <a:pPr marL="457200" indent="-457200">
              <a:buAutoNum type="arabicPeriod"/>
            </a:pPr>
            <a:r>
              <a:rPr lang="en-US" altLang="en-US" sz="2500" b="1">
                <a:latin typeface="Times New Roman" panose="02020603050405020304" charset="0"/>
                <a:cs typeface="Times New Roman" panose="02020603050405020304" charset="0"/>
              </a:rPr>
              <a:t>Challenges, Learnings &amp; Next Steps : </a:t>
            </a:r>
            <a:r>
              <a:rPr lang="en-US" altLang="en-US" sz="2500">
                <a:latin typeface="Times New Roman" panose="02020603050405020304" charset="0"/>
                <a:cs typeface="Times New Roman" panose="02020603050405020304" charset="0"/>
              </a:rPr>
              <a:t>Reflects on key challenges like data leakage, summarizes the main takeaways, and proposes ideas for future enhancements to the model.</a:t>
            </a:r>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latin typeface="Times New Roman" panose="02020603050405020304" charset="0"/>
                <a:cs typeface="Times New Roman" panose="02020603050405020304" charset="0"/>
              </a:rPr>
              <a:t>Dataset Overview</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r>
              <a:rPr lang="en-US" altLang="en-US" sz="2500" b="1">
                <a:latin typeface="Times New Roman" panose="02020603050405020304" charset="0"/>
                <a:cs typeface="Times New Roman" panose="02020603050405020304" charset="0"/>
              </a:rPr>
              <a:t>Source: </a:t>
            </a:r>
            <a:r>
              <a:rPr lang="en-US" altLang="en-US" sz="2500">
                <a:latin typeface="Times New Roman" panose="02020603050405020304" charset="0"/>
                <a:cs typeface="Times New Roman" panose="02020603050405020304" charset="0"/>
              </a:rPr>
              <a:t>power_grid_corp_power_demand.csv</a:t>
            </a:r>
            <a:endParaRPr lang="en-US" altLang="en-US" sz="2500">
              <a:latin typeface="Times New Roman" panose="02020603050405020304" charset="0"/>
              <a:cs typeface="Times New Roman" panose="02020603050405020304" charset="0"/>
            </a:endParaRPr>
          </a:p>
          <a:p>
            <a:pPr marL="0" indent="0">
              <a:buNone/>
            </a:pPr>
            <a:endParaRPr lang="en-US" altLang="en-US" sz="2500">
              <a:latin typeface="Times New Roman" panose="02020603050405020304" charset="0"/>
              <a:cs typeface="Times New Roman" panose="02020603050405020304" charset="0"/>
            </a:endParaRPr>
          </a:p>
          <a:p>
            <a:r>
              <a:rPr lang="en-US" altLang="en-US" sz="2500" b="1">
                <a:latin typeface="Times New Roman" panose="02020603050405020304" charset="0"/>
                <a:cs typeface="Times New Roman" panose="02020603050405020304" charset="0"/>
              </a:rPr>
              <a:t>Size &amp; Type:</a:t>
            </a:r>
            <a:r>
              <a:rPr lang="en-US" altLang="en-US" sz="2500">
                <a:latin typeface="Times New Roman" panose="02020603050405020304" charset="0"/>
                <a:cs typeface="Times New Roman" panose="02020603050405020304" charset="0"/>
              </a:rPr>
              <a:t> A time series dataset with 92,218 hourly records and 14 columns, spanning from April 2015 to June 2025.</a:t>
            </a:r>
            <a:endParaRPr lang="en-US" altLang="en-US" sz="2500">
              <a:latin typeface="Times New Roman" panose="02020603050405020304" charset="0"/>
              <a:cs typeface="Times New Roman" panose="02020603050405020304" charset="0"/>
            </a:endParaRPr>
          </a:p>
          <a:p>
            <a:pPr marL="0" indent="0">
              <a:buNone/>
            </a:pPr>
            <a:endParaRPr lang="en-US" altLang="en-US" sz="2500">
              <a:latin typeface="Times New Roman" panose="02020603050405020304" charset="0"/>
              <a:cs typeface="Times New Roman" panose="02020603050405020304" charset="0"/>
            </a:endParaRPr>
          </a:p>
          <a:p>
            <a:r>
              <a:rPr lang="en-US" altLang="en-US" sz="2500" b="1">
                <a:latin typeface="Times New Roman" panose="02020603050405020304" charset="0"/>
                <a:cs typeface="Times New Roman" panose="02020603050405020304" charset="0"/>
              </a:rPr>
              <a:t>Content:</a:t>
            </a:r>
            <a:r>
              <a:rPr lang="en-US" altLang="en-US" sz="2500">
                <a:latin typeface="Times New Roman" panose="02020603050405020304" charset="0"/>
                <a:cs typeface="Times New Roman" panose="02020603050405020304" charset="0"/>
              </a:rPr>
              <a:t> Contains the target variable demand_mw, along with generation_mw and various power generation sources (gas, coal, hydro, etc.).</a:t>
            </a:r>
            <a:endParaRPr lang="en-US" altLang="en-US" sz="2500">
              <a:latin typeface="Times New Roman" panose="02020603050405020304" charset="0"/>
              <a:cs typeface="Times New Roman" panose="02020603050405020304" charset="0"/>
            </a:endParaRPr>
          </a:p>
          <a:p>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latin typeface="Times New Roman" panose="02020603050405020304" charset="0"/>
                <a:cs typeface="Times New Roman" panose="02020603050405020304" charset="0"/>
              </a:rPr>
              <a:t>Objective / Problem Statement</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r>
              <a:rPr lang="en-US" altLang="en-US" sz="2500">
                <a:latin typeface="Times New Roman" panose="02020603050405020304" charset="0"/>
                <a:cs typeface="Times New Roman" panose="02020603050405020304" charset="0"/>
              </a:rPr>
              <a:t>The primary goal is to build an accurate machine learning model to forecast the hourly demand_mw.</a:t>
            </a:r>
            <a:endParaRPr lang="en-US" altLang="en-US" sz="2500">
              <a:latin typeface="Times New Roman" panose="02020603050405020304" charset="0"/>
              <a:cs typeface="Times New Roman" panose="02020603050405020304" charset="0"/>
            </a:endParaRPr>
          </a:p>
          <a:p>
            <a:endParaRPr lang="en-US" altLang="en-US" sz="2500">
              <a:latin typeface="Times New Roman" panose="02020603050405020304" charset="0"/>
              <a:cs typeface="Times New Roman" panose="02020603050405020304" charset="0"/>
            </a:endParaRPr>
          </a:p>
          <a:p>
            <a:r>
              <a:rPr lang="en-US" altLang="en-US" sz="2500">
                <a:latin typeface="Times New Roman" panose="02020603050405020304" charset="0"/>
                <a:cs typeface="Times New Roman" panose="02020603050405020304" charset="0"/>
              </a:rPr>
              <a:t>A key objective is to significantly outperform a naive baseline model to demonstrate the value of a data-driven, feature-engineered approach.</a:t>
            </a:r>
            <a:endParaRPr lang="en-US" altLang="en-US" sz="2500">
              <a:latin typeface="Times New Roman" panose="02020603050405020304" charset="0"/>
              <a:cs typeface="Times New Roman" panose="02020603050405020304" charset="0"/>
            </a:endParaRPr>
          </a:p>
          <a:p>
            <a:endParaRPr lang="en-US" altLang="en-US" sz="2500">
              <a:latin typeface="Times New Roman" panose="02020603050405020304" charset="0"/>
              <a:cs typeface="Times New Roman" panose="02020603050405020304" charset="0"/>
            </a:endParaRPr>
          </a:p>
          <a:p>
            <a:r>
              <a:rPr lang="en-US" altLang="en-US" sz="2500">
                <a:latin typeface="Times New Roman" panose="02020603050405020304" charset="0"/>
                <a:cs typeface="Times New Roman" panose="02020603050405020304" charset="0"/>
              </a:rPr>
              <a:t>The project aims to create a reliable forecasting tool by identifying key drivers of power demand and optimizing a model for predictive accuracy.</a:t>
            </a:r>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latin typeface="Times New Roman" panose="02020603050405020304" charset="0"/>
                <a:cs typeface="Times New Roman" panose="02020603050405020304" charset="0"/>
              </a:rPr>
              <a:t>Data Understanding &amp; Cleaning</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normAutofit lnSpcReduction="20000"/>
          </a:bodyPr>
          <a:p>
            <a:pPr marL="0" indent="0">
              <a:buNone/>
            </a:pPr>
            <a:r>
              <a:rPr lang="en-US" altLang="en-US" sz="2500" b="1">
                <a:latin typeface="Times New Roman" panose="02020603050405020304" charset="0"/>
                <a:cs typeface="Times New Roman" panose="02020603050405020304" charset="0"/>
              </a:rPr>
              <a:t>Key Insights from EDA:</a:t>
            </a:r>
            <a:endParaRPr lang="en-US" altLang="en-US" sz="2500" b="1">
              <a:latin typeface="Times New Roman" panose="02020603050405020304" charset="0"/>
              <a:cs typeface="Times New Roman" panose="02020603050405020304" charset="0"/>
            </a:endParaRPr>
          </a:p>
          <a:p>
            <a:endParaRPr lang="en-US" altLang="en-US" sz="2500">
              <a:latin typeface="Times New Roman" panose="02020603050405020304" charset="0"/>
              <a:cs typeface="Times New Roman" panose="02020603050405020304" charset="0"/>
            </a:endParaRPr>
          </a:p>
          <a:p>
            <a:r>
              <a:rPr lang="en-US" altLang="en-US" sz="2500">
                <a:latin typeface="Times New Roman" panose="02020603050405020304" charset="0"/>
                <a:cs typeface="Times New Roman" panose="02020603050405020304" charset="0"/>
              </a:rPr>
              <a:t>Missing Values: The initial analysis and heatmap revealed significant missing data in key columns: solar (24%), wind (80%), india_adani (92%), and nepal (94%).</a:t>
            </a:r>
            <a:endParaRPr lang="en-US" altLang="en-US" sz="2500">
              <a:latin typeface="Times New Roman" panose="02020603050405020304" charset="0"/>
              <a:cs typeface="Times New Roman" panose="02020603050405020304" charset="0"/>
            </a:endParaRPr>
          </a:p>
          <a:p>
            <a:endParaRPr lang="en-US" altLang="en-US" sz="2500">
              <a:latin typeface="Times New Roman" panose="02020603050405020304" charset="0"/>
              <a:cs typeface="Times New Roman" panose="02020603050405020304" charset="0"/>
            </a:endParaRPr>
          </a:p>
          <a:p>
            <a:r>
              <a:rPr lang="en-US" altLang="en-US" sz="2500">
                <a:latin typeface="Times New Roman" panose="02020603050405020304" charset="0"/>
                <a:cs typeface="Times New Roman" panose="02020603050405020304" charset="0"/>
              </a:rPr>
              <a:t>Outliers: A plot of demand_mw showed a few extreme outliers. A threshold of 25,000 MW was identified, with 8 data points exceeding it.</a:t>
            </a:r>
            <a:endParaRPr lang="en-US" altLang="en-US" sz="2500">
              <a:latin typeface="Times New Roman" panose="02020603050405020304" charset="0"/>
              <a:cs typeface="Times New Roman" panose="02020603050405020304" charset="0"/>
            </a:endParaRPr>
          </a:p>
          <a:p>
            <a:endParaRPr lang="en-US" altLang="en-US" sz="2500">
              <a:latin typeface="Times New Roman" panose="02020603050405020304" charset="0"/>
              <a:cs typeface="Times New Roman" panose="02020603050405020304" charset="0"/>
            </a:endParaRPr>
          </a:p>
          <a:p>
            <a:r>
              <a:rPr lang="en-US" altLang="en-US" sz="2500">
                <a:latin typeface="Times New Roman" panose="02020603050405020304" charset="0"/>
                <a:cs typeface="Times New Roman" panose="02020603050405020304" charset="0"/>
              </a:rPr>
              <a:t>Seasonality: The data exhibits a clear upward trend over the years, with strong yearly seasonality (demand peaking in summer) and daily seasonality (demand peaking in the evening).</a:t>
            </a:r>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028700"/>
          </a:xfrm>
        </p:spPr>
        <p:txBody>
          <a:bodyPr/>
          <a:p>
            <a:pPr algn="ctr"/>
            <a:r>
              <a:rPr lang="en-US" altLang="en-US" b="1">
                <a:latin typeface="Times New Roman" panose="02020603050405020304" charset="0"/>
                <a:cs typeface="Times New Roman" panose="02020603050405020304" charset="0"/>
              </a:rPr>
              <a:t>Data Understanding &amp; Cleaning (Cont.)</a:t>
            </a:r>
            <a:endParaRPr lang="en-US" altLang="en-US" b="1">
              <a:latin typeface="Times New Roman" panose="02020603050405020304" charset="0"/>
              <a:cs typeface="Times New Roman" panose="02020603050405020304" charset="0"/>
            </a:endParaRPr>
          </a:p>
        </p:txBody>
      </p:sp>
      <p:pic>
        <p:nvPicPr>
          <p:cNvPr id="4" name="Content Placeholder 3" descr="download"/>
          <p:cNvPicPr>
            <a:picLocks noChangeAspect="1"/>
          </p:cNvPicPr>
          <p:nvPr>
            <p:ph idx="1"/>
          </p:nvPr>
        </p:nvPicPr>
        <p:blipFill>
          <a:blip r:embed="rId1"/>
          <a:stretch>
            <a:fillRect/>
          </a:stretch>
        </p:blipFill>
        <p:spPr>
          <a:xfrm>
            <a:off x="4040505" y="1581785"/>
            <a:ext cx="4110355" cy="4351655"/>
          </a:xfrm>
          <a:prstGeom prst="rect">
            <a:avLst/>
          </a:prstGeom>
        </p:spPr>
      </p:pic>
      <p:sp>
        <p:nvSpPr>
          <p:cNvPr id="7" name="Text Box 6"/>
          <p:cNvSpPr txBox="1"/>
          <p:nvPr/>
        </p:nvSpPr>
        <p:spPr>
          <a:xfrm>
            <a:off x="2331085" y="5933440"/>
            <a:ext cx="6744970" cy="368300"/>
          </a:xfrm>
          <a:prstGeom prst="rect">
            <a:avLst/>
          </a:prstGeom>
          <a:noFill/>
        </p:spPr>
        <p:txBody>
          <a:bodyPr wrap="square" rtlCol="0">
            <a:spAutoFit/>
          </a:bodyPr>
          <a:p>
            <a:pPr algn="ctr"/>
            <a:r>
              <a:rPr lang="en-US" altLang="en-US">
                <a:latin typeface="Times New Roman" panose="02020603050405020304" charset="0"/>
                <a:cs typeface="Times New Roman" panose="02020603050405020304" charset="0"/>
                <a:sym typeface="+mn-ea"/>
              </a:rPr>
              <a:t>Bright gaps shows where the missing values are in the specific columns.</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028700"/>
          </a:xfrm>
        </p:spPr>
        <p:txBody>
          <a:bodyPr/>
          <a:p>
            <a:pPr algn="ctr"/>
            <a:r>
              <a:rPr lang="en-US" altLang="en-US" b="1">
                <a:latin typeface="Times New Roman" panose="02020603050405020304" charset="0"/>
                <a:cs typeface="Times New Roman" panose="02020603050405020304" charset="0"/>
              </a:rPr>
              <a:t>Data Understanding &amp; Cleaning (Cont.)</a:t>
            </a:r>
            <a:endParaRPr lang="en-US" altLang="en-US" b="1">
              <a:latin typeface="Times New Roman" panose="02020603050405020304" charset="0"/>
              <a:cs typeface="Times New Roman" panose="02020603050405020304" charset="0"/>
            </a:endParaRPr>
          </a:p>
        </p:txBody>
      </p:sp>
      <p:pic>
        <p:nvPicPr>
          <p:cNvPr id="8" name="Content Placeholder 7" descr="download (1)"/>
          <p:cNvPicPr>
            <a:picLocks noChangeAspect="1"/>
          </p:cNvPicPr>
          <p:nvPr>
            <p:ph idx="1"/>
          </p:nvPr>
        </p:nvPicPr>
        <p:blipFill>
          <a:blip r:embed="rId1"/>
          <a:stretch>
            <a:fillRect/>
          </a:stretch>
        </p:blipFill>
        <p:spPr>
          <a:xfrm>
            <a:off x="5338445" y="1604645"/>
            <a:ext cx="5815330" cy="2662555"/>
          </a:xfrm>
          <a:prstGeom prst="rect">
            <a:avLst/>
          </a:prstGeom>
        </p:spPr>
      </p:pic>
      <p:sp>
        <p:nvSpPr>
          <p:cNvPr id="9" name="Text Box 8"/>
          <p:cNvSpPr txBox="1"/>
          <p:nvPr/>
        </p:nvSpPr>
        <p:spPr>
          <a:xfrm>
            <a:off x="1297305" y="1604645"/>
            <a:ext cx="4040505" cy="2861310"/>
          </a:xfrm>
          <a:prstGeom prst="rect">
            <a:avLst/>
          </a:prstGeom>
          <a:noFill/>
        </p:spPr>
        <p:txBody>
          <a:bodyPr wrap="square" rtlCol="0">
            <a:spAutoFit/>
          </a:bodyPr>
          <a:p>
            <a:r>
              <a:rPr lang="en-US" altLang="en-US">
                <a:latin typeface="Times New Roman" panose="02020603050405020304" charset="0"/>
                <a:cs typeface="Times New Roman" panose="02020603050405020304" charset="0"/>
                <a:sym typeface="+mn-ea"/>
              </a:rPr>
              <a:t>Clean Upward Trend - Long term growth in electricity demand. A simple feature like "year" will be useful.</a:t>
            </a:r>
            <a:endParaRPr lang="en-US" altLang="en-US">
              <a:latin typeface="Times New Roman" panose="02020603050405020304" charset="0"/>
              <a:cs typeface="Times New Roman" panose="02020603050405020304" charset="0"/>
              <a:sym typeface="+mn-ea"/>
            </a:endParaRPr>
          </a:p>
          <a:p>
            <a:endParaRPr lang="en-US"/>
          </a:p>
          <a:p>
            <a:r>
              <a:rPr lang="en-US" altLang="en-US">
                <a:latin typeface="Times New Roman" panose="02020603050405020304" charset="0"/>
                <a:cs typeface="Times New Roman" panose="02020603050405020304" charset="0"/>
                <a:sym typeface="+mn-ea"/>
              </a:rPr>
              <a:t>Strong Yearly Seasonality - Wave like pattern. It peaks in the middle of the year everytime. Those are the summer months telling us that the demand of electricity supplies increases during summer times.</a:t>
            </a:r>
            <a:endParaRPr lang="en-US" altLang="en-US">
              <a:latin typeface="Times New Roman" panose="02020603050405020304" charset="0"/>
              <a:cs typeface="Times New Roman" panose="02020603050405020304" charset="0"/>
              <a:sym typeface="+mn-ea"/>
            </a:endParaRPr>
          </a:p>
          <a:p>
            <a:endParaRPr lang="en-US"/>
          </a:p>
        </p:txBody>
      </p:sp>
      <p:sp>
        <p:nvSpPr>
          <p:cNvPr id="10" name="Text Box 9"/>
          <p:cNvSpPr txBox="1"/>
          <p:nvPr/>
        </p:nvSpPr>
        <p:spPr>
          <a:xfrm>
            <a:off x="1297305" y="4370070"/>
            <a:ext cx="9856470" cy="2030095"/>
          </a:xfrm>
          <a:prstGeom prst="rect">
            <a:avLst/>
          </a:prstGeom>
          <a:noFill/>
        </p:spPr>
        <p:txBody>
          <a:bodyPr wrap="square" rtlCol="0">
            <a:spAutoFit/>
          </a:bodyPr>
          <a:p>
            <a:r>
              <a:rPr lang="en-US" altLang="en-US">
                <a:latin typeface="Times New Roman" panose="02020603050405020304" charset="0"/>
                <a:cs typeface="Times New Roman" panose="02020603050405020304" charset="0"/>
                <a:sym typeface="+mn-ea"/>
              </a:rPr>
              <a:t>Features like month and day_of_year will be crucial for the model to capture this.</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Mean/ Variance - Mean and Variance keeps on increasing every year i.e. the trend plus the season multiplies.</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So, we can say that this is a multiplicative time series model.</a:t>
            </a:r>
            <a:endParaRPr lang="en-US" altLang="en-US">
              <a:latin typeface="Times New Roman" panose="02020603050405020304" charset="0"/>
              <a:cs typeface="Times New Roman" panose="02020603050405020304" charset="0"/>
            </a:endParaRPr>
          </a:p>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26135"/>
          </a:xfrm>
        </p:spPr>
        <p:txBody>
          <a:bodyPr/>
          <a:p>
            <a:pPr algn="ctr"/>
            <a:r>
              <a:rPr lang="en-US" altLang="en-US" b="1">
                <a:latin typeface="Times New Roman" panose="02020603050405020304" charset="0"/>
                <a:cs typeface="Times New Roman" panose="02020603050405020304" charset="0"/>
              </a:rPr>
              <a:t>Data Understanding &amp; Cleaning (Cont.)</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433830"/>
            <a:ext cx="10921365" cy="4743450"/>
          </a:xfrm>
        </p:spPr>
        <p:txBody>
          <a:bodyPr>
            <a:normAutofit fontScale="80000"/>
          </a:bodyPr>
          <a:p>
            <a:pPr marL="0" indent="0">
              <a:buNone/>
            </a:pPr>
            <a:r>
              <a:rPr lang="en-US" altLang="en-US" sz="2500" b="1">
                <a:latin typeface="Times New Roman" panose="02020603050405020304" charset="0"/>
                <a:cs typeface="Times New Roman" panose="02020603050405020304" charset="0"/>
              </a:rPr>
              <a:t>Major Cleaning &amp; Preprocessing Steps:</a:t>
            </a:r>
            <a:endParaRPr lang="en-US" altLang="en-US" sz="2500" b="1">
              <a:latin typeface="Times New Roman" panose="02020603050405020304" charset="0"/>
              <a:cs typeface="Times New Roman" panose="02020603050405020304" charset="0"/>
            </a:endParaRPr>
          </a:p>
          <a:p>
            <a:endParaRPr lang="en-US" altLang="en-US" sz="2500">
              <a:latin typeface="Times New Roman" panose="02020603050405020304" charset="0"/>
              <a:cs typeface="Times New Roman" panose="02020603050405020304" charset="0"/>
            </a:endParaRPr>
          </a:p>
          <a:p>
            <a:r>
              <a:rPr lang="en-US" altLang="en-US" sz="2500">
                <a:latin typeface="Times New Roman" panose="02020603050405020304" charset="0"/>
                <a:cs typeface="Times New Roman" panose="02020603050405020304" charset="0"/>
              </a:rPr>
              <a:t>Outlier Removal: The 8 rows where demand_mw exceeded 25,000 MW were removed.</a:t>
            </a:r>
            <a:endParaRPr lang="en-US" altLang="en-US" sz="2500">
              <a:latin typeface="Times New Roman" panose="02020603050405020304" charset="0"/>
              <a:cs typeface="Times New Roman" panose="02020603050405020304" charset="0"/>
            </a:endParaRPr>
          </a:p>
          <a:p>
            <a:endParaRPr lang="en-US" altLang="en-US" sz="2500">
              <a:latin typeface="Times New Roman" panose="02020603050405020304" charset="0"/>
              <a:cs typeface="Times New Roman" panose="02020603050405020304" charset="0"/>
            </a:endParaRPr>
          </a:p>
          <a:p>
            <a:r>
              <a:rPr lang="en-US" altLang="en-US" sz="2500">
                <a:latin typeface="Times New Roman" panose="02020603050405020304" charset="0"/>
                <a:cs typeface="Times New Roman" panose="02020603050405020304" charset="0"/>
              </a:rPr>
              <a:t>Feature Dropping: The wind, india_adani, and nepal columns were dropped due to excessive missing values and low predictive signal. This was a critical step to avoid noise.</a:t>
            </a:r>
            <a:endParaRPr lang="en-US" altLang="en-US" sz="2500">
              <a:latin typeface="Times New Roman" panose="02020603050405020304" charset="0"/>
              <a:cs typeface="Times New Roman" panose="02020603050405020304" charset="0"/>
            </a:endParaRPr>
          </a:p>
          <a:p>
            <a:endParaRPr lang="en-US" altLang="en-US" sz="2500">
              <a:latin typeface="Times New Roman" panose="02020603050405020304" charset="0"/>
              <a:cs typeface="Times New Roman" panose="02020603050405020304" charset="0"/>
            </a:endParaRPr>
          </a:p>
          <a:p>
            <a:r>
              <a:rPr lang="en-US" altLang="en-US" sz="2500">
                <a:latin typeface="Times New Roman" panose="02020603050405020304" charset="0"/>
                <a:cs typeface="Times New Roman" panose="02020603050405020304" charset="0"/>
              </a:rPr>
              <a:t>Missing Value Imputation: The solar column's missing values were filled with 0, based on the assumption that no data means no solar generation.</a:t>
            </a:r>
            <a:endParaRPr lang="en-US" altLang="en-US" sz="2500">
              <a:latin typeface="Times New Roman" panose="02020603050405020304" charset="0"/>
              <a:cs typeface="Times New Roman" panose="02020603050405020304" charset="0"/>
            </a:endParaRPr>
          </a:p>
          <a:p>
            <a:endParaRPr lang="en-US" altLang="en-US" sz="2500">
              <a:latin typeface="Times New Roman" panose="02020603050405020304" charset="0"/>
              <a:cs typeface="Times New Roman" panose="02020603050405020304" charset="0"/>
            </a:endParaRPr>
          </a:p>
          <a:p>
            <a:r>
              <a:rPr lang="en-US" altLang="en-US" sz="2500">
                <a:latin typeface="Times New Roman" panose="02020603050405020304" charset="0"/>
                <a:cs typeface="Times New Roman" panose="02020603050405020304" charset="0"/>
              </a:rPr>
              <a:t>Final NaN Removal: After creating a rolling-window feature, the first 24 rows of the dataset (which contained NaNs) were dropped.</a:t>
            </a:r>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latin typeface="Times New Roman" panose="02020603050405020304" charset="0"/>
                <a:cs typeface="Times New Roman" panose="02020603050405020304" charset="0"/>
              </a:rPr>
              <a:t>Data Understanding &amp; Cleaning (Cont.)</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normAutofit lnSpcReduction="20000"/>
          </a:bodyPr>
          <a:p>
            <a:pPr marL="0" indent="0">
              <a:buNone/>
            </a:pPr>
            <a:r>
              <a:rPr lang="en-US" altLang="en-US" sz="2500" b="1">
                <a:latin typeface="Times New Roman" panose="02020603050405020304" charset="0"/>
                <a:cs typeface="Times New Roman" panose="02020603050405020304" charset="0"/>
              </a:rPr>
              <a:t>Challenges Faced:</a:t>
            </a:r>
            <a:endParaRPr lang="en-US" altLang="en-US" sz="2500" b="1">
              <a:latin typeface="Times New Roman" panose="02020603050405020304" charset="0"/>
              <a:cs typeface="Times New Roman" panose="02020603050405020304" charset="0"/>
            </a:endParaRPr>
          </a:p>
          <a:p>
            <a:pPr marL="0" indent="0">
              <a:buNone/>
            </a:pPr>
            <a:endParaRPr lang="en-US" altLang="en-US" sz="2500">
              <a:latin typeface="Times New Roman" panose="02020603050405020304" charset="0"/>
              <a:cs typeface="Times New Roman" panose="02020603050405020304" charset="0"/>
            </a:endParaRPr>
          </a:p>
          <a:p>
            <a:pPr marL="0" indent="0">
              <a:buNone/>
            </a:pPr>
            <a:r>
              <a:rPr lang="en-US" altLang="en-US" sz="2500">
                <a:latin typeface="Times New Roman" panose="02020603050405020304" charset="0"/>
                <a:cs typeface="Times New Roman" panose="02020603050405020304" charset="0"/>
              </a:rPr>
              <a:t>Conflicting Stationarity Tests: </a:t>
            </a:r>
            <a:endParaRPr lang="en-US" altLang="en-US" sz="2500">
              <a:latin typeface="Times New Roman" panose="02020603050405020304" charset="0"/>
              <a:cs typeface="Times New Roman" panose="02020603050405020304" charset="0"/>
            </a:endParaRPr>
          </a:p>
          <a:p>
            <a:pPr marL="0" indent="0">
              <a:buNone/>
            </a:pPr>
            <a:endParaRPr lang="en-US" altLang="en-US" sz="2500">
              <a:latin typeface="Times New Roman" panose="02020603050405020304" charset="0"/>
              <a:cs typeface="Times New Roman" panose="02020603050405020304" charset="0"/>
            </a:endParaRPr>
          </a:p>
          <a:p>
            <a:pPr marL="0" indent="0">
              <a:buNone/>
            </a:pPr>
            <a:r>
              <a:rPr lang="en-US" altLang="en-US" sz="2500">
                <a:latin typeface="Times New Roman" panose="02020603050405020304" charset="0"/>
                <a:cs typeface="Times New Roman" panose="02020603050405020304" charset="0"/>
              </a:rPr>
              <a:t>The ADF test suggested the data was stationary, while the KPSS test suggested it was non-stationary. </a:t>
            </a:r>
            <a:endParaRPr lang="en-US" altLang="en-US" sz="2500">
              <a:latin typeface="Times New Roman" panose="02020603050405020304" charset="0"/>
              <a:cs typeface="Times New Roman" panose="02020603050405020304" charset="0"/>
            </a:endParaRPr>
          </a:p>
          <a:p>
            <a:pPr marL="0" indent="0">
              <a:buNone/>
            </a:pPr>
            <a:endParaRPr lang="en-US" altLang="en-US" sz="2500">
              <a:latin typeface="Times New Roman" panose="02020603050405020304" charset="0"/>
              <a:cs typeface="Times New Roman" panose="02020603050405020304" charset="0"/>
            </a:endParaRPr>
          </a:p>
          <a:p>
            <a:pPr marL="0" indent="0">
              <a:buNone/>
            </a:pPr>
            <a:r>
              <a:rPr lang="en-US" altLang="en-US" sz="2500">
                <a:latin typeface="Times New Roman" panose="02020603050405020304" charset="0"/>
                <a:cs typeface="Times New Roman" panose="02020603050405020304" charset="0"/>
              </a:rPr>
              <a:t>This conflict was resolved by observing the clear upward trend in the data, concluding that the ADF test was "fooled" by the strong daily seasonality. The data was treated as trend-stationary.</a:t>
            </a:r>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latin typeface="Times New Roman" panose="02020603050405020304" charset="0"/>
                <a:cs typeface="Times New Roman" panose="02020603050405020304" charset="0"/>
              </a:rPr>
              <a:t>Approach / Methodology</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normAutofit fontScale="70000"/>
          </a:bodyPr>
          <a:p>
            <a:pPr marL="0" indent="0">
              <a:buNone/>
            </a:pPr>
            <a:r>
              <a:rPr lang="en-US" altLang="en-US" sz="2500" b="1">
                <a:latin typeface="Times New Roman" panose="02020603050405020304" charset="0"/>
                <a:cs typeface="Times New Roman" panose="02020603050405020304" charset="0"/>
              </a:rPr>
              <a:t>Process Flow Diagram:</a:t>
            </a:r>
            <a:endParaRPr lang="en-US" altLang="en-US" sz="2500" b="1">
              <a:latin typeface="Times New Roman" panose="02020603050405020304" charset="0"/>
              <a:cs typeface="Times New Roman" panose="02020603050405020304" charset="0"/>
            </a:endParaRPr>
          </a:p>
          <a:p>
            <a:pPr marL="0" indent="0">
              <a:buNone/>
            </a:pPr>
            <a:endParaRPr lang="en-US" altLang="en-US" sz="2500">
              <a:latin typeface="Times New Roman" panose="02020603050405020304" charset="0"/>
              <a:cs typeface="Times New Roman" panose="02020603050405020304" charset="0"/>
            </a:endParaRPr>
          </a:p>
          <a:p>
            <a:pPr marL="457200" indent="-457200">
              <a:buAutoNum type="arabicPeriod"/>
            </a:pPr>
            <a:r>
              <a:rPr lang="en-US" altLang="en-US" sz="2500" b="1">
                <a:latin typeface="Times New Roman" panose="02020603050405020304" charset="0"/>
                <a:cs typeface="Times New Roman" panose="02020603050405020304" charset="0"/>
              </a:rPr>
              <a:t>Data Prep:</a:t>
            </a:r>
            <a:r>
              <a:rPr lang="en-US" altLang="en-US" sz="2500">
                <a:latin typeface="Times New Roman" panose="02020603050405020304" charset="0"/>
                <a:cs typeface="Times New Roman" panose="02020603050405020304" charset="0"/>
              </a:rPr>
              <a:t> Loaded, cleaned, and removed outliers from the raw data.</a:t>
            </a:r>
            <a:endParaRPr lang="en-US" altLang="en-US" sz="2500">
              <a:latin typeface="Times New Roman" panose="02020603050405020304" charset="0"/>
              <a:cs typeface="Times New Roman" panose="02020603050405020304" charset="0"/>
            </a:endParaRPr>
          </a:p>
          <a:p>
            <a:pPr marL="457200" indent="-457200">
              <a:buAutoNum type="arabicPeriod"/>
            </a:pPr>
            <a:r>
              <a:rPr lang="en-US" altLang="en-US" sz="2500" b="1">
                <a:latin typeface="Times New Roman" panose="02020603050405020304" charset="0"/>
                <a:cs typeface="Times New Roman" panose="02020603050405020304" charset="0"/>
              </a:rPr>
              <a:t>EDA</a:t>
            </a:r>
            <a:endParaRPr lang="en-US" altLang="en-US" sz="2500" b="1">
              <a:latin typeface="Times New Roman" panose="02020603050405020304" charset="0"/>
              <a:cs typeface="Times New Roman" panose="02020603050405020304" charset="0"/>
            </a:endParaRPr>
          </a:p>
          <a:p>
            <a:pPr marL="457200" indent="-457200">
              <a:buAutoNum type="arabicPeriod"/>
            </a:pPr>
            <a:r>
              <a:rPr lang="en-US" altLang="en-US" sz="2500" b="1">
                <a:latin typeface="Times New Roman" panose="02020603050405020304" charset="0"/>
                <a:cs typeface="Times New Roman" panose="02020603050405020304" charset="0"/>
              </a:rPr>
              <a:t>Feature Engineering:</a:t>
            </a:r>
            <a:r>
              <a:rPr lang="en-US" altLang="en-US" sz="2500">
                <a:latin typeface="Times New Roman" panose="02020603050405020304" charset="0"/>
                <a:cs typeface="Times New Roman" panose="02020603050405020304" charset="0"/>
              </a:rPr>
              <a:t> Created time-based features (hour, dayofweek, year) and a rolling_mean_solar_24h feature to act as a weather proxy.</a:t>
            </a:r>
            <a:endParaRPr lang="en-US" altLang="en-US" sz="2500">
              <a:latin typeface="Times New Roman" panose="02020603050405020304" charset="0"/>
              <a:cs typeface="Times New Roman" panose="02020603050405020304" charset="0"/>
            </a:endParaRPr>
          </a:p>
          <a:p>
            <a:pPr marL="457200" indent="-457200">
              <a:buAutoNum type="arabicPeriod"/>
            </a:pPr>
            <a:r>
              <a:rPr lang="en-US" altLang="en-US" sz="2500" b="1">
                <a:latin typeface="Times New Roman" panose="02020603050405020304" charset="0"/>
                <a:cs typeface="Times New Roman" panose="02020603050405020304" charset="0"/>
              </a:rPr>
              <a:t>Feature Selection:</a:t>
            </a:r>
            <a:r>
              <a:rPr lang="en-US" altLang="en-US" sz="2500">
                <a:latin typeface="Times New Roman" panose="02020603050405020304" charset="0"/>
                <a:cs typeface="Times New Roman" panose="02020603050405020304" charset="0"/>
              </a:rPr>
              <a:t> Critically evaluated features and intentionally excluded data leakage sources like generation_mw and coal from the final feature set, as they are reactive to demand, not predictive of it.</a:t>
            </a:r>
            <a:endParaRPr lang="en-US" altLang="en-US" sz="2500">
              <a:latin typeface="Times New Roman" panose="02020603050405020304" charset="0"/>
              <a:cs typeface="Times New Roman" panose="02020603050405020304" charset="0"/>
            </a:endParaRPr>
          </a:p>
          <a:p>
            <a:pPr marL="457200" indent="-457200">
              <a:buAutoNum type="arabicPeriod"/>
            </a:pPr>
            <a:r>
              <a:rPr lang="en-US" altLang="en-US" sz="2500" b="1">
                <a:latin typeface="Times New Roman" panose="02020603050405020304" charset="0"/>
                <a:cs typeface="Times New Roman" panose="02020603050405020304" charset="0"/>
              </a:rPr>
              <a:t>Train-Test Split:</a:t>
            </a:r>
            <a:r>
              <a:rPr lang="en-US" altLang="en-US" sz="2500">
                <a:latin typeface="Times New Roman" panose="02020603050405020304" charset="0"/>
                <a:cs typeface="Times New Roman" panose="02020603050405020304" charset="0"/>
              </a:rPr>
              <a:t> Split the data chronologically, using data before 2023-01-01 for training (76%) and data from 2023 onwards for testing (24%).</a:t>
            </a:r>
            <a:endParaRPr lang="en-US" altLang="en-US" sz="2500">
              <a:latin typeface="Times New Roman" panose="02020603050405020304" charset="0"/>
              <a:cs typeface="Times New Roman" panose="02020603050405020304" charset="0"/>
            </a:endParaRPr>
          </a:p>
          <a:p>
            <a:pPr marL="457200" indent="-457200">
              <a:buAutoNum type="arabicPeriod"/>
            </a:pPr>
            <a:r>
              <a:rPr lang="en-US" altLang="en-US" sz="2500" b="1">
                <a:latin typeface="Times New Roman" panose="02020603050405020304" charset="0"/>
                <a:cs typeface="Times New Roman" panose="02020603050405020304" charset="0"/>
              </a:rPr>
              <a:t>Modeling &amp; Tuning:</a:t>
            </a:r>
            <a:r>
              <a:rPr lang="en-US" altLang="en-US" sz="2500">
                <a:latin typeface="Times New Roman" panose="02020603050405020304" charset="0"/>
                <a:cs typeface="Times New Roman" panose="02020603050405020304" charset="0"/>
              </a:rPr>
              <a:t> Established a naive baseline, trained an initial XGBoost model, and then performed weighted hyperparameter tuning using RandomizedSearchCV.</a:t>
            </a:r>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latin typeface="Times New Roman" panose="02020603050405020304" charset="0"/>
                <a:cs typeface="Times New Roman" panose="02020603050405020304" charset="0"/>
              </a:rPr>
              <a:t>Approach / Methodology (Cont.)</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normAutofit lnSpcReduction="20000"/>
          </a:bodyPr>
          <a:p>
            <a:pPr marL="0" indent="0">
              <a:buNone/>
            </a:pPr>
            <a:r>
              <a:rPr lang="en-US" altLang="en-US" sz="2500" b="1">
                <a:latin typeface="Times New Roman" panose="02020603050405020304" charset="0"/>
                <a:cs typeface="Times New Roman" panose="02020603050405020304" charset="0"/>
              </a:rPr>
              <a:t>Techniques and Rationale:</a:t>
            </a:r>
            <a:endParaRPr lang="en-US" altLang="en-US" sz="2500" b="1">
              <a:latin typeface="Times New Roman" panose="02020603050405020304" charset="0"/>
              <a:cs typeface="Times New Roman" panose="02020603050405020304" charset="0"/>
            </a:endParaRPr>
          </a:p>
          <a:p>
            <a:pPr marL="0" indent="0">
              <a:buNone/>
            </a:pPr>
            <a:endParaRPr lang="en-US" altLang="en-US" sz="2500">
              <a:latin typeface="Times New Roman" panose="02020603050405020304" charset="0"/>
              <a:cs typeface="Times New Roman" panose="02020603050405020304" charset="0"/>
            </a:endParaRPr>
          </a:p>
          <a:p>
            <a:pPr marL="0" indent="0">
              <a:buNone/>
            </a:pPr>
            <a:r>
              <a:rPr lang="en-US" altLang="en-US" sz="2500" b="1">
                <a:latin typeface="Times New Roman" panose="02020603050405020304" charset="0"/>
                <a:cs typeface="Times New Roman" panose="02020603050405020304" charset="0"/>
              </a:rPr>
              <a:t>Model: </a:t>
            </a:r>
            <a:r>
              <a:rPr lang="en-US" altLang="en-US" sz="2500">
                <a:latin typeface="Times New Roman" panose="02020603050405020304" charset="0"/>
                <a:cs typeface="Times New Roman" panose="02020603050405020304" charset="0"/>
              </a:rPr>
              <a:t>Used XGBoost, a powerful algorithm ideal for handling the complex, non-linear patterns found in the data.</a:t>
            </a:r>
            <a:endParaRPr lang="en-US" altLang="en-US" sz="2500">
              <a:latin typeface="Times New Roman" panose="02020603050405020304" charset="0"/>
              <a:cs typeface="Times New Roman" panose="02020603050405020304" charset="0"/>
            </a:endParaRPr>
          </a:p>
          <a:p>
            <a:pPr marL="0" indent="0">
              <a:buNone/>
            </a:pPr>
            <a:endParaRPr lang="en-US" altLang="en-US" sz="2500">
              <a:latin typeface="Times New Roman" panose="02020603050405020304" charset="0"/>
              <a:cs typeface="Times New Roman" panose="02020603050405020304" charset="0"/>
            </a:endParaRPr>
          </a:p>
          <a:p>
            <a:pPr marL="0" indent="0">
              <a:buNone/>
            </a:pPr>
            <a:r>
              <a:rPr lang="en-US" altLang="en-US" sz="2500" b="1">
                <a:latin typeface="Times New Roman" panose="02020603050405020304" charset="0"/>
                <a:cs typeface="Times New Roman" panose="02020603050405020304" charset="0"/>
              </a:rPr>
              <a:t>Metric:</a:t>
            </a:r>
            <a:r>
              <a:rPr lang="en-US" altLang="en-US" sz="2500">
                <a:latin typeface="Times New Roman" panose="02020603050405020304" charset="0"/>
                <a:cs typeface="Times New Roman" panose="02020603050405020304" charset="0"/>
              </a:rPr>
              <a:t> Root Mean Squared Error (RMSE). This metric was chosen as t heavily penalizes large prediction errors, which is critical for grid stability. Also used MAE (Mean Absolute Error)</a:t>
            </a:r>
            <a:endParaRPr lang="en-US" altLang="en-US" sz="2500">
              <a:latin typeface="Times New Roman" panose="02020603050405020304" charset="0"/>
              <a:cs typeface="Times New Roman" panose="02020603050405020304" charset="0"/>
            </a:endParaRPr>
          </a:p>
          <a:p>
            <a:pPr marL="0" indent="0">
              <a:buNone/>
            </a:pPr>
            <a:endParaRPr lang="en-US" altLang="en-US" sz="2500">
              <a:latin typeface="Times New Roman" panose="02020603050405020304" charset="0"/>
              <a:cs typeface="Times New Roman" panose="02020603050405020304" charset="0"/>
            </a:endParaRPr>
          </a:p>
          <a:p>
            <a:pPr marL="0" indent="0">
              <a:buNone/>
            </a:pPr>
            <a:r>
              <a:rPr lang="en-US" altLang="en-US" sz="2500" b="1">
                <a:latin typeface="Times New Roman" panose="02020603050405020304" charset="0"/>
                <a:cs typeface="Times New Roman" panose="02020603050405020304" charset="0"/>
              </a:rPr>
              <a:t>Key Technique (sample_weight): </a:t>
            </a:r>
            <a:r>
              <a:rPr lang="en-US" altLang="en-US" sz="2500">
                <a:latin typeface="Times New Roman" panose="02020603050405020304" charset="0"/>
                <a:cs typeface="Times New Roman" panose="02020603050405020304" charset="0"/>
              </a:rPr>
              <a:t>During tuning, I applied a sample_weight that increased linearly over time. This forced the model to prioritize learning from recent data, a crucial strategy for time series forecasting.</a:t>
            </a:r>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latin typeface="Times New Roman" panose="02020603050405020304" charset="0"/>
                <a:cs typeface="Times New Roman" panose="02020603050405020304" charset="0"/>
              </a:rPr>
              <a:t>Results &amp; Insights</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515110"/>
            <a:ext cx="10772140" cy="4932680"/>
          </a:xfrm>
        </p:spPr>
        <p:txBody>
          <a:bodyPr>
            <a:normAutofit fontScale="70000"/>
          </a:bodyPr>
          <a:p>
            <a:pPr marL="0" indent="0">
              <a:buNone/>
            </a:pPr>
            <a:r>
              <a:rPr lang="en-US" altLang="en-US" sz="2500" b="1">
                <a:latin typeface="Times New Roman" panose="02020603050405020304" charset="0"/>
                <a:cs typeface="Times New Roman" panose="02020603050405020304" charset="0"/>
              </a:rPr>
              <a:t>Model Performance - A Story of Progressive Improvement:</a:t>
            </a:r>
            <a:endParaRPr lang="en-US" altLang="en-US" sz="2500" b="1">
              <a:latin typeface="Times New Roman" panose="02020603050405020304" charset="0"/>
              <a:cs typeface="Times New Roman" panose="02020603050405020304" charset="0"/>
            </a:endParaRPr>
          </a:p>
          <a:p>
            <a:pPr marL="0" indent="0">
              <a:buNone/>
            </a:pPr>
            <a:r>
              <a:rPr lang="en-US" altLang="en-US" sz="2500">
                <a:latin typeface="Times New Roman" panose="02020603050405020304" charset="0"/>
                <a:cs typeface="Times New Roman" panose="02020603050405020304" charset="0"/>
              </a:rPr>
              <a:t>My evaluation used two key metrics: Mean Absolute Error (MAE), representing the average error in MW, and Root Mean Squared Error (RMSE), which penalizes larger errors more heavily.</a:t>
            </a:r>
            <a:endParaRPr lang="en-US" altLang="en-US" sz="2500">
              <a:latin typeface="Times New Roman" panose="02020603050405020304" charset="0"/>
              <a:cs typeface="Times New Roman" panose="02020603050405020304" charset="0"/>
            </a:endParaRPr>
          </a:p>
          <a:p>
            <a:pPr marL="0" indent="0">
              <a:buNone/>
            </a:pPr>
            <a:endParaRPr lang="en-US" altLang="en-US" sz="2500">
              <a:latin typeface="Times New Roman" panose="02020603050405020304" charset="0"/>
              <a:cs typeface="Times New Roman" panose="02020603050405020304" charset="0"/>
            </a:endParaRPr>
          </a:p>
          <a:p>
            <a:pPr marL="0" indent="0">
              <a:buNone/>
            </a:pPr>
            <a:r>
              <a:rPr lang="en-US" altLang="en-US" sz="2500" b="1">
                <a:latin typeface="Times New Roman" panose="02020603050405020304" charset="0"/>
                <a:cs typeface="Times New Roman" panose="02020603050405020304" charset="0"/>
              </a:rPr>
              <a:t>Baseline Naive Model:</a:t>
            </a:r>
            <a:endParaRPr lang="en-US" altLang="en-US" sz="2500" b="1">
              <a:latin typeface="Times New Roman" panose="02020603050405020304" charset="0"/>
              <a:cs typeface="Times New Roman" panose="02020603050405020304" charset="0"/>
            </a:endParaRPr>
          </a:p>
          <a:p>
            <a:pPr marL="0" indent="0">
              <a:buNone/>
            </a:pPr>
            <a:r>
              <a:rPr lang="en-US" altLang="en-US" sz="2500">
                <a:latin typeface="Times New Roman" panose="02020603050405020304" charset="0"/>
                <a:cs typeface="Times New Roman" panose="02020603050405020304" charset="0"/>
              </a:rPr>
              <a:t>MAE: 399.05 MW</a:t>
            </a:r>
            <a:endParaRPr lang="en-US" altLang="en-US" sz="2500">
              <a:latin typeface="Times New Roman" panose="02020603050405020304" charset="0"/>
              <a:cs typeface="Times New Roman" panose="02020603050405020304" charset="0"/>
            </a:endParaRPr>
          </a:p>
          <a:p>
            <a:pPr marL="0" indent="0">
              <a:buNone/>
            </a:pPr>
            <a:r>
              <a:rPr lang="en-US" altLang="en-US" sz="2500">
                <a:latin typeface="Times New Roman" panose="02020603050405020304" charset="0"/>
                <a:cs typeface="Times New Roman" panose="02020603050405020304" charset="0"/>
              </a:rPr>
              <a:t>Initial XGBoost Model (Before Tuning):</a:t>
            </a:r>
            <a:endParaRPr lang="en-US" altLang="en-US" sz="2500">
              <a:latin typeface="Times New Roman" panose="02020603050405020304" charset="0"/>
              <a:cs typeface="Times New Roman" panose="02020603050405020304" charset="0"/>
            </a:endParaRPr>
          </a:p>
          <a:p>
            <a:pPr marL="0" indent="0">
              <a:buNone/>
            </a:pPr>
            <a:r>
              <a:rPr lang="en-US" altLang="en-US" sz="2500">
                <a:latin typeface="Times New Roman" panose="02020603050405020304" charset="0"/>
                <a:cs typeface="Times New Roman" panose="02020603050405020304" charset="0"/>
              </a:rPr>
              <a:t>MAE: 187.20 MW (A 53.1% improvement in average error)</a:t>
            </a:r>
            <a:endParaRPr lang="en-US" altLang="en-US" sz="2500">
              <a:latin typeface="Times New Roman" panose="02020603050405020304" charset="0"/>
              <a:cs typeface="Times New Roman" panose="02020603050405020304" charset="0"/>
            </a:endParaRPr>
          </a:p>
          <a:p>
            <a:pPr marL="0" indent="0">
              <a:buNone/>
            </a:pPr>
            <a:r>
              <a:rPr lang="en-US" altLang="en-US" sz="2500">
                <a:latin typeface="Times New Roman" panose="02020603050405020304" charset="0"/>
                <a:cs typeface="Times New Roman" panose="02020603050405020304" charset="0"/>
              </a:rPr>
              <a:t>Final Validation RMSE (from logs): ~582 MW</a:t>
            </a:r>
            <a:endParaRPr lang="en-US" altLang="en-US" sz="2500">
              <a:latin typeface="Times New Roman" panose="02020603050405020304" charset="0"/>
              <a:cs typeface="Times New Roman" panose="02020603050405020304" charset="0"/>
            </a:endParaRPr>
          </a:p>
          <a:p>
            <a:pPr marL="0" indent="0">
              <a:buNone/>
            </a:pPr>
            <a:endParaRPr lang="en-US" altLang="en-US" sz="2500">
              <a:latin typeface="Times New Roman" panose="02020603050405020304" charset="0"/>
              <a:cs typeface="Times New Roman" panose="02020603050405020304" charset="0"/>
            </a:endParaRPr>
          </a:p>
          <a:p>
            <a:pPr marL="0" indent="0">
              <a:buNone/>
            </a:pPr>
            <a:r>
              <a:rPr lang="en-US" altLang="en-US" sz="2500" b="1">
                <a:latin typeface="Times New Roman" panose="02020603050405020304" charset="0"/>
                <a:cs typeface="Times New Roman" panose="02020603050405020304" charset="0"/>
              </a:rPr>
              <a:t>Final Tuned XGBoost Model:</a:t>
            </a:r>
            <a:endParaRPr lang="en-US" altLang="en-US" sz="2500" b="1">
              <a:latin typeface="Times New Roman" panose="02020603050405020304" charset="0"/>
              <a:cs typeface="Times New Roman" panose="02020603050405020304" charset="0"/>
            </a:endParaRPr>
          </a:p>
          <a:p>
            <a:pPr marL="0" indent="0">
              <a:buNone/>
            </a:pPr>
            <a:r>
              <a:rPr lang="en-US" altLang="en-US" sz="2500">
                <a:latin typeface="Times New Roman" panose="02020603050405020304" charset="0"/>
                <a:cs typeface="Times New Roman" panose="02020603050405020304" charset="0"/>
              </a:rPr>
              <a:t>Best Cross-Validated MAE (from tuning): 56.37 MW</a:t>
            </a:r>
            <a:endParaRPr lang="en-US" altLang="en-US" sz="2500">
              <a:latin typeface="Times New Roman" panose="02020603050405020304" charset="0"/>
              <a:cs typeface="Times New Roman" panose="02020603050405020304" charset="0"/>
            </a:endParaRPr>
          </a:p>
          <a:p>
            <a:pPr marL="0" indent="0">
              <a:buNone/>
            </a:pPr>
            <a:r>
              <a:rPr lang="en-US" altLang="en-US" sz="2500">
                <a:latin typeface="Times New Roman" panose="02020603050405020304" charset="0"/>
                <a:cs typeface="Times New Roman" panose="02020603050405020304" charset="0"/>
              </a:rPr>
              <a:t>This represents a massive 85% improvement in average error compared to the original baseline.</a:t>
            </a:r>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038860"/>
          </a:xfrm>
        </p:spPr>
        <p:txBody>
          <a:bodyPr/>
          <a:p>
            <a:pPr algn="ctr"/>
            <a:r>
              <a:rPr lang="en-US" altLang="en-US" b="1">
                <a:latin typeface="Times New Roman" panose="02020603050405020304" charset="0"/>
                <a:cs typeface="Times New Roman" panose="02020603050405020304" charset="0"/>
              </a:rPr>
              <a:t>Results &amp; Insights (Cont.)</a:t>
            </a:r>
            <a:endParaRPr lang="en-US" altLang="en-US" b="1">
              <a:latin typeface="Times New Roman" panose="02020603050405020304" charset="0"/>
              <a:cs typeface="Times New Roman" panose="02020603050405020304" charset="0"/>
            </a:endParaRPr>
          </a:p>
        </p:txBody>
      </p:sp>
      <p:pic>
        <p:nvPicPr>
          <p:cNvPr id="4" name="Content Placeholder 3" descr="download (3)"/>
          <p:cNvPicPr>
            <a:picLocks noChangeAspect="1"/>
          </p:cNvPicPr>
          <p:nvPr>
            <p:ph idx="1"/>
          </p:nvPr>
        </p:nvPicPr>
        <p:blipFill>
          <a:blip r:embed="rId1"/>
          <a:stretch>
            <a:fillRect/>
          </a:stretch>
        </p:blipFill>
        <p:spPr>
          <a:xfrm>
            <a:off x="2308860" y="1783715"/>
            <a:ext cx="7877810" cy="3418205"/>
          </a:xfrm>
          <a:prstGeom prst="rect">
            <a:avLst/>
          </a:prstGeom>
        </p:spPr>
      </p:pic>
      <p:sp>
        <p:nvSpPr>
          <p:cNvPr id="6" name="Text Box 5"/>
          <p:cNvSpPr txBox="1"/>
          <p:nvPr/>
        </p:nvSpPr>
        <p:spPr>
          <a:xfrm>
            <a:off x="3647440" y="1403985"/>
            <a:ext cx="4604385" cy="368300"/>
          </a:xfrm>
          <a:prstGeom prst="rect">
            <a:avLst/>
          </a:prstGeom>
          <a:noFill/>
        </p:spPr>
        <p:txBody>
          <a:bodyPr wrap="square" rtlCol="0">
            <a:spAutoFit/>
          </a:bodyPr>
          <a:p>
            <a:r>
              <a:rPr lang="en-US" altLang="en-US" b="1">
                <a:latin typeface="Times New Roman" panose="02020603050405020304" charset="0"/>
                <a:cs typeface="Times New Roman" panose="02020603050405020304" charset="0"/>
              </a:rPr>
              <a:t>Key Visualization 1: Final Forecast Accuracy</a:t>
            </a:r>
            <a:endParaRPr lang="en-US" altLang="en-US" b="1">
              <a:latin typeface="Times New Roman" panose="02020603050405020304" charset="0"/>
              <a:cs typeface="Times New Roman" panose="02020603050405020304" charset="0"/>
            </a:endParaRPr>
          </a:p>
        </p:txBody>
      </p:sp>
      <p:sp>
        <p:nvSpPr>
          <p:cNvPr id="7" name="Text Box 6"/>
          <p:cNvSpPr txBox="1"/>
          <p:nvPr/>
        </p:nvSpPr>
        <p:spPr>
          <a:xfrm>
            <a:off x="1609725" y="5294630"/>
            <a:ext cx="9300210" cy="922020"/>
          </a:xfrm>
          <a:prstGeom prst="rect">
            <a:avLst/>
          </a:prstGeom>
          <a:noFill/>
        </p:spPr>
        <p:txBody>
          <a:bodyPr wrap="square" rtlCol="0">
            <a:spAutoFit/>
          </a:bodyPr>
          <a:p>
            <a:pPr algn="ctr"/>
            <a:r>
              <a:rPr lang="en-US" altLang="en-US" b="1">
                <a:latin typeface="Times New Roman" panose="02020603050405020304" charset="0"/>
                <a:cs typeface="Times New Roman" panose="02020603050405020304" charset="0"/>
              </a:rPr>
              <a:t>Insight:</a:t>
            </a:r>
            <a:r>
              <a:rPr lang="en-US" altLang="en-US">
                <a:latin typeface="Times New Roman" panose="02020603050405020304" charset="0"/>
                <a:cs typeface="Times New Roman" panose="02020603050405020304" charset="0"/>
              </a:rPr>
              <a:t> The plot confirms the final model's high accuracy. The predicted red line tracks the actual blue line very closely, successfully capturing the daily demand cycles. The model shows minor deviation on weekends (Jan 7-8), a known challenge and an area for future improvement.</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038860"/>
          </a:xfrm>
        </p:spPr>
        <p:txBody>
          <a:bodyPr/>
          <a:p>
            <a:pPr algn="ctr"/>
            <a:r>
              <a:rPr lang="en-US" altLang="en-US" b="1">
                <a:latin typeface="Times New Roman" panose="02020603050405020304" charset="0"/>
                <a:cs typeface="Times New Roman" panose="02020603050405020304" charset="0"/>
              </a:rPr>
              <a:t>Results &amp; Insights (Cont.)</a:t>
            </a:r>
            <a:endParaRPr lang="en-US" altLang="en-US" b="1">
              <a:latin typeface="Times New Roman" panose="02020603050405020304" charset="0"/>
              <a:cs typeface="Times New Roman" panose="02020603050405020304" charset="0"/>
            </a:endParaRPr>
          </a:p>
        </p:txBody>
      </p:sp>
      <p:sp>
        <p:nvSpPr>
          <p:cNvPr id="6" name="Text Box 5"/>
          <p:cNvSpPr txBox="1"/>
          <p:nvPr/>
        </p:nvSpPr>
        <p:spPr>
          <a:xfrm>
            <a:off x="2739390" y="1403985"/>
            <a:ext cx="6928485" cy="368300"/>
          </a:xfrm>
          <a:prstGeom prst="rect">
            <a:avLst/>
          </a:prstGeom>
          <a:noFill/>
        </p:spPr>
        <p:txBody>
          <a:bodyPr wrap="square" rtlCol="0">
            <a:spAutoFit/>
          </a:bodyPr>
          <a:p>
            <a:r>
              <a:rPr lang="en-US" altLang="en-US" b="1">
                <a:latin typeface="Times New Roman" panose="02020603050405020304" charset="0"/>
                <a:cs typeface="Times New Roman" panose="02020603050405020304" charset="0"/>
              </a:rPr>
              <a:t>Key Visualization 2: Feature Importance &amp; Data Leakage Discovery</a:t>
            </a:r>
            <a:endParaRPr lang="en-US" altLang="en-US" b="1">
              <a:latin typeface="Times New Roman" panose="02020603050405020304" charset="0"/>
              <a:cs typeface="Times New Roman" panose="02020603050405020304" charset="0"/>
            </a:endParaRPr>
          </a:p>
        </p:txBody>
      </p:sp>
      <p:sp>
        <p:nvSpPr>
          <p:cNvPr id="7" name="Text Box 6"/>
          <p:cNvSpPr txBox="1"/>
          <p:nvPr/>
        </p:nvSpPr>
        <p:spPr>
          <a:xfrm>
            <a:off x="946785" y="1946275"/>
            <a:ext cx="3117850" cy="4246245"/>
          </a:xfrm>
          <a:prstGeom prst="rect">
            <a:avLst/>
          </a:prstGeom>
          <a:noFill/>
        </p:spPr>
        <p:txBody>
          <a:bodyPr wrap="square" rtlCol="0">
            <a:spAutoFit/>
          </a:bodyPr>
          <a:p>
            <a:pPr algn="ctr"/>
            <a:r>
              <a:rPr lang="en-US" altLang="en-US">
                <a:latin typeface="Times New Roman" panose="02020603050405020304" charset="0"/>
                <a:cs typeface="Times New Roman" panose="02020603050405020304" charset="0"/>
              </a:rPr>
              <a:t>The feature importance plot provided a critical insight. It revealed that generation_mw had an importance score of 0.95. This is a classic example of data leakage, as generation is a direct reaction to demand. This finding validates the decision to exclude such features from a real-world forecasting model. The next most important features were time-based (hour, dayofyear), confirming the model correctly learned the underlying seasonal patterns.</a:t>
            </a:r>
            <a:endParaRPr lang="en-US" altLang="en-US">
              <a:latin typeface="Times New Roman" panose="02020603050405020304" charset="0"/>
              <a:cs typeface="Times New Roman" panose="02020603050405020304" charset="0"/>
            </a:endParaRPr>
          </a:p>
        </p:txBody>
      </p:sp>
      <p:pic>
        <p:nvPicPr>
          <p:cNvPr id="5" name="Content Placeholder 4" descr="download (4)"/>
          <p:cNvPicPr>
            <a:picLocks noChangeAspect="1"/>
          </p:cNvPicPr>
          <p:nvPr>
            <p:ph idx="1"/>
          </p:nvPr>
        </p:nvPicPr>
        <p:blipFill>
          <a:blip r:embed="rId1"/>
          <a:stretch>
            <a:fillRect/>
          </a:stretch>
        </p:blipFill>
        <p:spPr>
          <a:xfrm>
            <a:off x="4602480" y="1825625"/>
            <a:ext cx="6751320" cy="44869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b="1">
                <a:latin typeface="Times New Roman" panose="02020603050405020304" charset="0"/>
                <a:cs typeface="Times New Roman" panose="02020603050405020304" charset="0"/>
              </a:rPr>
              <a:t>Challenges, Learnings &amp; Next Steps</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normAutofit lnSpcReduction="20000"/>
          </a:bodyPr>
          <a:p>
            <a:pPr marL="0" indent="0">
              <a:buNone/>
            </a:pPr>
            <a:r>
              <a:rPr lang="en-US" altLang="en-US" sz="2500" b="1">
                <a:latin typeface="Times New Roman" panose="02020603050405020304" charset="0"/>
                <a:cs typeface="Times New Roman" panose="02020603050405020304" charset="0"/>
              </a:rPr>
              <a:t>Major Challenges &amp; Solutions:</a:t>
            </a:r>
            <a:endParaRPr lang="en-US" altLang="en-US" sz="2500">
              <a:latin typeface="Times New Roman" panose="02020603050405020304" charset="0"/>
              <a:cs typeface="Times New Roman" panose="02020603050405020304" charset="0"/>
            </a:endParaRPr>
          </a:p>
          <a:p>
            <a:pPr marL="0" indent="0">
              <a:buNone/>
            </a:pPr>
            <a:endParaRPr lang="en-US" altLang="en-US" sz="2500">
              <a:latin typeface="Times New Roman" panose="02020603050405020304" charset="0"/>
              <a:cs typeface="Times New Roman" panose="02020603050405020304" charset="0"/>
            </a:endParaRPr>
          </a:p>
          <a:p>
            <a:pPr marL="0" indent="0">
              <a:buNone/>
            </a:pPr>
            <a:r>
              <a:rPr lang="en-US" altLang="en-US" sz="2500" b="1">
                <a:latin typeface="Times New Roman" panose="02020603050405020304" charset="0"/>
                <a:cs typeface="Times New Roman" panose="02020603050405020304" charset="0"/>
              </a:rPr>
              <a:t>Challenge: </a:t>
            </a:r>
            <a:r>
              <a:rPr lang="en-US" altLang="en-US" sz="2500">
                <a:latin typeface="Times New Roman" panose="02020603050405020304" charset="0"/>
                <a:cs typeface="Times New Roman" panose="02020603050405020304" charset="0"/>
              </a:rPr>
              <a:t>Preventing data leakage from reactive features (generation_mw, coal).</a:t>
            </a:r>
            <a:endParaRPr lang="en-US" altLang="en-US" sz="2500">
              <a:latin typeface="Times New Roman" panose="02020603050405020304" charset="0"/>
              <a:cs typeface="Times New Roman" panose="02020603050405020304" charset="0"/>
            </a:endParaRPr>
          </a:p>
          <a:p>
            <a:pPr marL="0" indent="0">
              <a:buNone/>
            </a:pPr>
            <a:r>
              <a:rPr lang="en-US" altLang="en-US" sz="2500" b="1">
                <a:latin typeface="Times New Roman" panose="02020603050405020304" charset="0"/>
                <a:cs typeface="Times New Roman" panose="02020603050405020304" charset="0"/>
              </a:rPr>
              <a:t>Solution:</a:t>
            </a:r>
            <a:r>
              <a:rPr lang="en-US" altLang="en-US" sz="2500">
                <a:latin typeface="Times New Roman" panose="02020603050405020304" charset="0"/>
                <a:cs typeface="Times New Roman" panose="02020603050405020304" charset="0"/>
              </a:rPr>
              <a:t> Made a conscious and documented decision to exclude these "cheater" columns from the feature set used for modeling, ensuring the model is genuinely predictive.</a:t>
            </a:r>
            <a:endParaRPr lang="en-US" altLang="en-US" sz="2500">
              <a:latin typeface="Times New Roman" panose="02020603050405020304" charset="0"/>
              <a:cs typeface="Times New Roman" panose="02020603050405020304" charset="0"/>
            </a:endParaRPr>
          </a:p>
          <a:p>
            <a:pPr marL="0" indent="0">
              <a:buNone/>
            </a:pPr>
            <a:endParaRPr lang="en-US" altLang="en-US" sz="2500">
              <a:latin typeface="Times New Roman" panose="02020603050405020304" charset="0"/>
              <a:cs typeface="Times New Roman" panose="02020603050405020304" charset="0"/>
            </a:endParaRPr>
          </a:p>
          <a:p>
            <a:pPr marL="0" indent="0">
              <a:buNone/>
            </a:pPr>
            <a:r>
              <a:rPr lang="en-US" altLang="en-US" sz="2500" b="1">
                <a:latin typeface="Times New Roman" panose="02020603050405020304" charset="0"/>
                <a:cs typeface="Times New Roman" panose="02020603050405020304" charset="0"/>
              </a:rPr>
              <a:t>Challenge:</a:t>
            </a:r>
            <a:r>
              <a:rPr lang="en-US" altLang="en-US" sz="2500">
                <a:latin typeface="Times New Roman" panose="02020603050405020304" charset="0"/>
                <a:cs typeface="Times New Roman" panose="02020603050405020304" charset="0"/>
              </a:rPr>
              <a:t> Making the model prioritize recent, more relevant data.</a:t>
            </a:r>
            <a:endParaRPr lang="en-US" altLang="en-US" sz="2500">
              <a:latin typeface="Times New Roman" panose="02020603050405020304" charset="0"/>
              <a:cs typeface="Times New Roman" panose="02020603050405020304" charset="0"/>
            </a:endParaRPr>
          </a:p>
          <a:p>
            <a:pPr marL="0" indent="0">
              <a:buNone/>
            </a:pPr>
            <a:r>
              <a:rPr lang="en-US" altLang="en-US" sz="2500" b="1">
                <a:latin typeface="Times New Roman" panose="02020603050405020304" charset="0"/>
                <a:cs typeface="Times New Roman" panose="02020603050405020304" charset="0"/>
              </a:rPr>
              <a:t>Solution:</a:t>
            </a:r>
            <a:r>
              <a:rPr lang="en-US" altLang="en-US" sz="2500">
                <a:latin typeface="Times New Roman" panose="02020603050405020304" charset="0"/>
                <a:cs typeface="Times New Roman" panose="02020603050405020304" charset="0"/>
              </a:rPr>
              <a:t> Implemented a sample_weight strategy during hyperparameter tuning, which was instrumental in finding better model parameters.</a:t>
            </a:r>
            <a:endParaRPr lang="en-US" altLang="en-US" sz="2500">
              <a:latin typeface="Times New Roman" panose="02020603050405020304" charset="0"/>
              <a:cs typeface="Times New Roman" panose="02020603050405020304" charset="0"/>
            </a:endParaRPr>
          </a:p>
          <a:p>
            <a:pPr marL="0" indent="0">
              <a:buNone/>
            </a:pPr>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pPr algn="ctr"/>
            <a:r>
              <a:rPr lang="en-US" altLang="en-US" b="1">
                <a:latin typeface="Times New Roman" panose="02020603050405020304" charset="0"/>
                <a:cs typeface="Times New Roman" panose="02020603050405020304" charset="0"/>
              </a:rPr>
              <a:t>Challenges, Learnings &amp; Next Steps (Cont.)</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normAutofit lnSpcReduction="20000"/>
          </a:bodyPr>
          <a:p>
            <a:pPr marL="0" indent="0">
              <a:buNone/>
            </a:pPr>
            <a:r>
              <a:rPr lang="en-US" altLang="en-US" sz="2500" b="1">
                <a:latin typeface="Times New Roman" panose="02020603050405020304" charset="0"/>
                <a:cs typeface="Times New Roman" panose="02020603050405020304" charset="0"/>
              </a:rPr>
              <a:t>Key Learnings from the Project:</a:t>
            </a:r>
            <a:endParaRPr lang="en-US" altLang="en-US" sz="2500" b="1">
              <a:latin typeface="Times New Roman" panose="02020603050405020304" charset="0"/>
              <a:cs typeface="Times New Roman" panose="02020603050405020304" charset="0"/>
            </a:endParaRPr>
          </a:p>
          <a:p>
            <a:pPr marL="0" indent="0">
              <a:buNone/>
            </a:pPr>
            <a:endParaRPr lang="en-US" altLang="en-US" sz="2500">
              <a:latin typeface="Times New Roman" panose="02020603050405020304" charset="0"/>
              <a:cs typeface="Times New Roman" panose="02020603050405020304" charset="0"/>
            </a:endParaRPr>
          </a:p>
          <a:p>
            <a:r>
              <a:rPr lang="en-US" altLang="en-US" sz="2500" b="1">
                <a:latin typeface="Times New Roman" panose="02020603050405020304" charset="0"/>
                <a:cs typeface="Times New Roman" panose="02020603050405020304" charset="0"/>
              </a:rPr>
              <a:t>Feature Engineering is King: </a:t>
            </a:r>
            <a:r>
              <a:rPr lang="en-US" altLang="en-US" sz="2500">
                <a:latin typeface="Times New Roman" panose="02020603050405020304" charset="0"/>
                <a:cs typeface="Times New Roman" panose="02020603050405020304" charset="0"/>
              </a:rPr>
              <a:t>The biggest performance jump came from creating good time-based features.</a:t>
            </a:r>
            <a:endParaRPr lang="en-US" altLang="en-US" sz="2500">
              <a:latin typeface="Times New Roman" panose="02020603050405020304" charset="0"/>
              <a:cs typeface="Times New Roman" panose="02020603050405020304" charset="0"/>
            </a:endParaRPr>
          </a:p>
          <a:p>
            <a:endParaRPr lang="en-US" altLang="en-US" sz="2500">
              <a:latin typeface="Times New Roman" panose="02020603050405020304" charset="0"/>
              <a:cs typeface="Times New Roman" panose="02020603050405020304" charset="0"/>
            </a:endParaRPr>
          </a:p>
          <a:p>
            <a:r>
              <a:rPr lang="en-US" altLang="en-US" sz="2500" b="1">
                <a:latin typeface="Times New Roman" panose="02020603050405020304" charset="0"/>
                <a:cs typeface="Times New Roman" panose="02020603050405020304" charset="0"/>
              </a:rPr>
              <a:t>Domain Knowledge Prevents Disaster:</a:t>
            </a:r>
            <a:r>
              <a:rPr lang="en-US" altLang="en-US" sz="2500">
                <a:latin typeface="Times New Roman" panose="02020603050405020304" charset="0"/>
                <a:cs typeface="Times New Roman" panose="02020603050405020304" charset="0"/>
              </a:rPr>
              <a:t> Understanding that generation follows demand was key to identifying and avoiding a critical data leakage flaw.</a:t>
            </a:r>
            <a:endParaRPr lang="en-US" altLang="en-US" sz="2500">
              <a:latin typeface="Times New Roman" panose="02020603050405020304" charset="0"/>
              <a:cs typeface="Times New Roman" panose="02020603050405020304" charset="0"/>
            </a:endParaRPr>
          </a:p>
          <a:p>
            <a:endParaRPr lang="en-US" altLang="en-US" sz="2500">
              <a:latin typeface="Times New Roman" panose="02020603050405020304" charset="0"/>
              <a:cs typeface="Times New Roman" panose="02020603050405020304" charset="0"/>
            </a:endParaRPr>
          </a:p>
          <a:p>
            <a:r>
              <a:rPr lang="en-US" altLang="en-US" sz="2500" b="1">
                <a:latin typeface="Times New Roman" panose="02020603050405020304" charset="0"/>
                <a:cs typeface="Times New Roman" panose="02020603050405020304" charset="0"/>
              </a:rPr>
              <a:t>Context-Aware Tuning is Powerful:</a:t>
            </a:r>
            <a:r>
              <a:rPr lang="en-US" altLang="en-US" sz="2500">
                <a:latin typeface="Times New Roman" panose="02020603050405020304" charset="0"/>
                <a:cs typeface="Times New Roman" panose="02020603050405020304" charset="0"/>
              </a:rPr>
              <a:t> Weighting samples by time is a superior strategy for time series forecasting compared to standard tuning.</a:t>
            </a:r>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pPr algn="ctr"/>
            <a:r>
              <a:rPr lang="en-US" altLang="en-US" b="1">
                <a:latin typeface="Times New Roman" panose="02020603050405020304" charset="0"/>
                <a:cs typeface="Times New Roman" panose="02020603050405020304" charset="0"/>
              </a:rPr>
              <a:t>Challenges, Learnings &amp; Next Steps (Cont.)</a:t>
            </a:r>
            <a:endParaRPr lang="en-US" alt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normAutofit lnSpcReduction="20000"/>
          </a:bodyPr>
          <a:p>
            <a:pPr marL="0" indent="0">
              <a:buNone/>
            </a:pPr>
            <a:r>
              <a:rPr lang="en-US" altLang="en-US" sz="2500" b="1">
                <a:latin typeface="Times New Roman" panose="02020603050405020304" charset="0"/>
                <a:cs typeface="Times New Roman" panose="02020603050405020304" charset="0"/>
              </a:rPr>
              <a:t>Future Improvements:</a:t>
            </a:r>
            <a:endParaRPr lang="en-US" altLang="en-US" sz="2500" b="1">
              <a:latin typeface="Times New Roman" panose="02020603050405020304" charset="0"/>
              <a:cs typeface="Times New Roman" panose="02020603050405020304" charset="0"/>
            </a:endParaRPr>
          </a:p>
          <a:p>
            <a:pPr marL="0" indent="0">
              <a:buNone/>
            </a:pPr>
            <a:endParaRPr lang="en-US" altLang="en-US" sz="2500">
              <a:latin typeface="Times New Roman" panose="02020603050405020304" charset="0"/>
              <a:cs typeface="Times New Roman" panose="02020603050405020304" charset="0"/>
            </a:endParaRPr>
          </a:p>
          <a:p>
            <a:r>
              <a:rPr lang="en-US" altLang="en-US" sz="2500" b="1">
                <a:latin typeface="Times New Roman" panose="02020603050405020304" charset="0"/>
                <a:cs typeface="Times New Roman" panose="02020603050405020304" charset="0"/>
              </a:rPr>
              <a:t>Incorporate External Data: </a:t>
            </a:r>
            <a:r>
              <a:rPr lang="en-US" altLang="en-US" sz="2500">
                <a:latin typeface="Times New Roman" panose="02020603050405020304" charset="0"/>
                <a:cs typeface="Times New Roman" panose="02020603050405020304" charset="0"/>
              </a:rPr>
              <a:t>Add external features like weather forecasts (temperature, humidity) and public holiday data.</a:t>
            </a:r>
            <a:endParaRPr lang="en-US" altLang="en-US" sz="2500">
              <a:latin typeface="Times New Roman" panose="02020603050405020304" charset="0"/>
              <a:cs typeface="Times New Roman" panose="02020603050405020304" charset="0"/>
            </a:endParaRPr>
          </a:p>
          <a:p>
            <a:endParaRPr lang="en-US" altLang="en-US" sz="2500">
              <a:latin typeface="Times New Roman" panose="02020603050405020304" charset="0"/>
              <a:cs typeface="Times New Roman" panose="02020603050405020304" charset="0"/>
            </a:endParaRPr>
          </a:p>
          <a:p>
            <a:r>
              <a:rPr lang="en-US" altLang="en-US" sz="2500" b="1">
                <a:latin typeface="Times New Roman" panose="02020603050405020304" charset="0"/>
                <a:cs typeface="Times New Roman" panose="02020603050405020304" charset="0"/>
              </a:rPr>
              <a:t>Advanced Modeling: </a:t>
            </a:r>
            <a:r>
              <a:rPr lang="en-US" altLang="en-US" sz="2500">
                <a:latin typeface="Times New Roman" panose="02020603050405020304" charset="0"/>
                <a:cs typeface="Times New Roman" panose="02020603050405020304" charset="0"/>
              </a:rPr>
              <a:t>Experiment with deep learning models like LSTMs to potentially improve performance on complex patterns like weekends and holidays.</a:t>
            </a:r>
            <a:endParaRPr lang="en-US" altLang="en-US" sz="2500">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idx="4294967295"/>
          </p:nvPr>
        </p:nvSpPr>
        <p:spPr>
          <a:xfrm>
            <a:off x="0" y="365125"/>
            <a:ext cx="10515600" cy="1325880"/>
          </a:xfrm>
        </p:spPr>
        <p:txBody>
          <a:bodyPr>
            <a:normAutofit fontScale="90000"/>
          </a:bodyPr>
          <a:p>
            <a:pPr algn="ctr"/>
            <a:br>
              <a:rPr lang="en-US" altLang="en-US" b="1">
                <a:latin typeface="Times New Roman" panose="02020603050405020304" charset="0"/>
                <a:cs typeface="Times New Roman" panose="02020603050405020304" charset="0"/>
              </a:rPr>
            </a:br>
            <a:br>
              <a:rPr lang="en-US" altLang="en-US" b="1">
                <a:latin typeface="Times New Roman" panose="02020603050405020304" charset="0"/>
                <a:cs typeface="Times New Roman" panose="02020603050405020304" charset="0"/>
              </a:rPr>
            </a:br>
            <a:br>
              <a:rPr lang="en-US" altLang="en-US" b="1">
                <a:latin typeface="Times New Roman" panose="02020603050405020304" charset="0"/>
                <a:cs typeface="Times New Roman" panose="02020603050405020304" charset="0"/>
              </a:rPr>
            </a:br>
            <a:br>
              <a:rPr lang="en-US" altLang="en-US" b="1">
                <a:latin typeface="Times New Roman" panose="02020603050405020304" charset="0"/>
                <a:cs typeface="Times New Roman" panose="02020603050405020304" charset="0"/>
              </a:rPr>
            </a:br>
            <a:br>
              <a:rPr lang="en-US" altLang="en-US" b="1">
                <a:latin typeface="Times New Roman" panose="02020603050405020304" charset="0"/>
                <a:cs typeface="Times New Roman" panose="02020603050405020304" charset="0"/>
              </a:rPr>
            </a:br>
            <a:br>
              <a:rPr lang="en-US" altLang="en-US" b="1">
                <a:latin typeface="Times New Roman" panose="02020603050405020304" charset="0"/>
                <a:cs typeface="Times New Roman" panose="02020603050405020304" charset="0"/>
              </a:rPr>
            </a:br>
            <a:br>
              <a:rPr lang="en-US" altLang="en-US" b="1">
                <a:latin typeface="Times New Roman" panose="02020603050405020304" charset="0"/>
                <a:cs typeface="Times New Roman" panose="02020603050405020304" charset="0"/>
              </a:rPr>
            </a:br>
            <a:br>
              <a:rPr lang="en-US" altLang="en-US" b="1">
                <a:latin typeface="Times New Roman" panose="02020603050405020304" charset="0"/>
                <a:cs typeface="Times New Roman" panose="02020603050405020304" charset="0"/>
              </a:rPr>
            </a:br>
            <a:r>
              <a:rPr lang="en-US" altLang="en-US" b="1">
                <a:latin typeface="Times New Roman" panose="02020603050405020304" charset="0"/>
                <a:cs typeface="Times New Roman" panose="02020603050405020304" charset="0"/>
              </a:rPr>
              <a:t>           THANK YOU</a:t>
            </a:r>
            <a:endParaRPr lang="en-US" altLang="en-US" b="1">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8036</Words>
  <Application>WPS Presentation</Application>
  <PresentationFormat>Widescreen</PresentationFormat>
  <Paragraphs>164</Paragraphs>
  <Slides>18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Arial</vt:lpstr>
      <vt:lpstr>SimSun</vt:lpstr>
      <vt:lpstr>Wingdings</vt:lpstr>
      <vt:lpstr>Arial Unicode MS</vt:lpstr>
      <vt:lpstr>Calibri Light</vt:lpstr>
      <vt:lpstr>Calibri</vt:lpstr>
      <vt:lpstr>Microsoft YaHei</vt:lpstr>
      <vt:lpstr>Times New Roman</vt:lpstr>
      <vt:lpstr>Office Theme</vt:lpstr>
      <vt:lpstr>PowerPoint 演示文稿</vt:lpstr>
      <vt:lpstr>PowerPoint 演示文稿</vt:lpstr>
      <vt:lpstr>Dataset Overview</vt:lpstr>
      <vt:lpstr>Dataset Overview</vt:lpstr>
      <vt:lpstr>Objective / Problem Statement</vt:lpstr>
      <vt:lpstr>Data Understanding &amp; Cleaning</vt:lpstr>
      <vt:lpstr>Data Understanding &amp; Cleaning (Cont.)</vt:lpstr>
      <vt:lpstr>Data Understanding &amp; Cleaning</vt:lpstr>
      <vt:lpstr>Data Understanding &amp; Cleaning</vt:lpstr>
      <vt:lpstr>Data Understanding &amp; Cleaning (Cont.)</vt:lpstr>
      <vt:lpstr>Approach / Methodology</vt:lpstr>
      <vt:lpstr>Approach / Methodology</vt:lpstr>
      <vt:lpstr>Results &amp; Insights</vt:lpstr>
      <vt:lpstr>Results &amp; Insights (Cont.)</vt:lpstr>
      <vt:lpstr>Data Understanding &amp; Cleaning (Cont.)</vt:lpstr>
      <vt:lpstr>Challenges, Learnings &amp; Next Steps</vt:lpstr>
      <vt:lpstr>Challenges, Learnings &amp; Next Steps (Cont.)</vt:lpstr>
      <vt:lpstr>Challenges, Learnings &amp; Next Steps (Cont.)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Navdeep</dc:creator>
  <cp:lastModifiedBy>Tarun</cp:lastModifiedBy>
  <cp:revision>5</cp:revision>
  <dcterms:created xsi:type="dcterms:W3CDTF">2025-07-23T00:59:00Z</dcterms:created>
  <dcterms:modified xsi:type="dcterms:W3CDTF">2025-11-18T14:11:37Z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F7BA36020CB54AD0AB4E9B6FF640F61B_11</vt:lpwstr>
  </property>
  <property fmtid="{D5CDD505-2E9C-101B-9397-08002B2CF9AE}" pid="3" name="KSOProductBuildVer">
    <vt:lpwstr>1033-12.2.0.23155</vt:lpwstr>
  </property>
</Properties>
</file>